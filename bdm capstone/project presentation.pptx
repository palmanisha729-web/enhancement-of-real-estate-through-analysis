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ora"/>
      <p:regular r:id="rId17"/>
    </p:embeddedFont>
    <p:embeddedFont>
      <p:font typeface="Lora"/>
      <p:regular r:id="rId18"/>
    </p:embeddedFont>
    <p:embeddedFont>
      <p:font typeface="Lora"/>
      <p:regular r:id="rId19"/>
    </p:embeddedFont>
    <p:embeddedFont>
      <p:font typeface="Lora"/>
      <p:regular r:id="rId20"/>
    </p:embeddedFont>
    <p:embeddedFont>
      <p:font typeface="Source Sans 3"/>
      <p:regular r:id="rId21"/>
    </p:embeddedFont>
    <p:embeddedFont>
      <p:font typeface="Source Sans 3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slideLayout" Target="../slideLayouts/slideLayout11.xml"/><Relationship Id="rId1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320647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Enhancing Real Estate Business Through Data-Driven Analysis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791670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Strategic insights for maximizing profitability and market expansion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37724" y="5451515"/>
            <a:ext cx="1370528" cy="449818"/>
          </a:xfrm>
          <a:prstGeom prst="roundRect">
            <a:avLst>
              <a:gd name="adj" fmla="val 6386"/>
            </a:avLst>
          </a:prstGeom>
          <a:solidFill>
            <a:srgbClr val="E2ECDF"/>
          </a:solidFill>
          <a:ln/>
        </p:spPr>
      </p:sp>
      <p:sp>
        <p:nvSpPr>
          <p:cNvPr id="6" name="Text 3"/>
          <p:cNvSpPr/>
          <p:nvPr/>
        </p:nvSpPr>
        <p:spPr>
          <a:xfrm>
            <a:off x="981313" y="5523309"/>
            <a:ext cx="108335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MANISHA PAL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327910" y="5443895"/>
            <a:ext cx="2050852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38512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79119" y="5523309"/>
            <a:ext cx="174843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ROLL NO. 23F1001570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366" y="656868"/>
            <a:ext cx="4756785" cy="594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About the Project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7503" y="1699379"/>
            <a:ext cx="6064806" cy="40431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88222" y="2332315"/>
            <a:ext cx="2378393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Narang Associates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588222" y="2800231"/>
            <a:ext cx="4217432" cy="894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Four years of comprehensive real estate data systematically collected, processed, and analyzed to unlock actionable business insights.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588222" y="3848576"/>
            <a:ext cx="4217432" cy="1193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Multi-year transactional data analysis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demographics and preferences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Competitive market landscape assessment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Location-based performance metrics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32366" y="5947909"/>
            <a:ext cx="4208145" cy="1446014"/>
          </a:xfrm>
          <a:prstGeom prst="roundRect">
            <a:avLst>
              <a:gd name="adj" fmla="val 7588"/>
            </a:avLst>
          </a:prstGeom>
          <a:solidFill>
            <a:srgbClr val="FEF5E7"/>
          </a:solidFill>
          <a:ln w="22860">
            <a:solidFill>
              <a:srgbClr val="D9CDB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9506" y="5947909"/>
            <a:ext cx="91440" cy="1446014"/>
          </a:xfrm>
          <a:prstGeom prst="roundRect">
            <a:avLst>
              <a:gd name="adj" fmla="val 33163"/>
            </a:avLst>
          </a:prstGeom>
          <a:solidFill>
            <a:srgbClr val="38512F"/>
          </a:solidFill>
          <a:ln/>
        </p:spPr>
      </p:sp>
      <p:sp>
        <p:nvSpPr>
          <p:cNvPr id="9" name="Text 6"/>
          <p:cNvSpPr/>
          <p:nvPr/>
        </p:nvSpPr>
        <p:spPr>
          <a:xfrm>
            <a:off x="1125855" y="6172819"/>
            <a:ext cx="2378393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Challenge 1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125855" y="6572511"/>
            <a:ext cx="3689747" cy="596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Limited market reach and stagnant customer growth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211128" y="5947909"/>
            <a:ext cx="4208145" cy="1446014"/>
          </a:xfrm>
          <a:prstGeom prst="roundRect">
            <a:avLst>
              <a:gd name="adj" fmla="val 7588"/>
            </a:avLst>
          </a:prstGeom>
          <a:solidFill>
            <a:srgbClr val="FEF5E7"/>
          </a:solidFill>
          <a:ln w="22860">
            <a:solidFill>
              <a:srgbClr val="D9CDB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88268" y="5947909"/>
            <a:ext cx="91440" cy="1446014"/>
          </a:xfrm>
          <a:prstGeom prst="roundRect">
            <a:avLst>
              <a:gd name="adj" fmla="val 33163"/>
            </a:avLst>
          </a:prstGeom>
          <a:solidFill>
            <a:srgbClr val="38512F"/>
          </a:solidFill>
          <a:ln/>
        </p:spPr>
      </p:sp>
      <p:sp>
        <p:nvSpPr>
          <p:cNvPr id="13" name="Text 10"/>
          <p:cNvSpPr/>
          <p:nvPr/>
        </p:nvSpPr>
        <p:spPr>
          <a:xfrm>
            <a:off x="5504617" y="6172819"/>
            <a:ext cx="2378393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Challenge 2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5504617" y="6572511"/>
            <a:ext cx="3689747" cy="596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Inability to leverage data-driven insights due to lack of analysis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9589889" y="5947909"/>
            <a:ext cx="4208145" cy="1446014"/>
          </a:xfrm>
          <a:prstGeom prst="roundRect">
            <a:avLst>
              <a:gd name="adj" fmla="val 7588"/>
            </a:avLst>
          </a:prstGeom>
          <a:solidFill>
            <a:srgbClr val="FEF5E7"/>
          </a:solidFill>
          <a:ln w="22860">
            <a:solidFill>
              <a:srgbClr val="D9CDB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567029" y="5947909"/>
            <a:ext cx="91440" cy="1446014"/>
          </a:xfrm>
          <a:prstGeom prst="roundRect">
            <a:avLst>
              <a:gd name="adj" fmla="val 33163"/>
            </a:avLst>
          </a:prstGeom>
          <a:solidFill>
            <a:srgbClr val="38512F"/>
          </a:solidFill>
          <a:ln/>
        </p:spPr>
      </p:sp>
      <p:sp>
        <p:nvSpPr>
          <p:cNvPr id="17" name="Text 14"/>
          <p:cNvSpPr/>
          <p:nvPr/>
        </p:nvSpPr>
        <p:spPr>
          <a:xfrm>
            <a:off x="9883378" y="6172819"/>
            <a:ext cx="2378393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Challenge 3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9883378" y="6572511"/>
            <a:ext cx="3689747" cy="596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Geographic constraints preventing business expansion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972979"/>
            <a:ext cx="703337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Problem-Solving Approach</a:t>
            </a:r>
            <a:endParaRPr lang="en-US" sz="4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124" y="2035969"/>
            <a:ext cx="1196816" cy="174021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60256" y="2275284"/>
            <a:ext cx="302264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Expand Customer Base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60256" y="2770823"/>
            <a:ext cx="603242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 digital marketing and strategic partnerships to reach broader audiences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124" y="3776186"/>
            <a:ext cx="1196816" cy="17402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60256" y="4015502"/>
            <a:ext cx="391072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Enable Data-Driven Decisions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60256" y="4511040"/>
            <a:ext cx="603242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 comprehensive analysis tools to transform raw data into strategic insights</a:t>
            </a:r>
            <a:endParaRPr lang="en-US" sz="1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124" y="5516404"/>
            <a:ext cx="1196816" cy="17402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60256" y="5755719"/>
            <a:ext cx="294358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Geographic Expansion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760256" y="6251258"/>
            <a:ext cx="603242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Identify high-potential markets beyond current operational boundaries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94028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Analysis Process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1663660"/>
            <a:ext cx="19145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37724" y="1966198"/>
            <a:ext cx="6400919" cy="2286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5" name="Text 3"/>
          <p:cNvSpPr/>
          <p:nvPr/>
        </p:nvSpPr>
        <p:spPr>
          <a:xfrm>
            <a:off x="837724" y="2107644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Collection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37724" y="2481143"/>
            <a:ext cx="6400919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Three years of data gathered through owner interviews, business records, and Google Maps analysis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91757" y="1663660"/>
            <a:ext cx="19145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91757" y="1966198"/>
            <a:ext cx="6400919" cy="2286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9" name="Text 7"/>
          <p:cNvSpPr/>
          <p:nvPr/>
        </p:nvSpPr>
        <p:spPr>
          <a:xfrm>
            <a:off x="7391757" y="2107644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Cleaning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391757" y="2481143"/>
            <a:ext cx="6400919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Unstructured data organized using Excel for clarity and accuracy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7724" y="3329107"/>
            <a:ext cx="19145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7724" y="3631644"/>
            <a:ext cx="6400919" cy="2286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3" name="Text 11"/>
          <p:cNvSpPr/>
          <p:nvPr/>
        </p:nvSpPr>
        <p:spPr>
          <a:xfrm>
            <a:off x="837724" y="3773091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Descriptive Statistics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837724" y="4146590"/>
            <a:ext cx="6400919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metrics summarized to identify performance patterns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91757" y="3329107"/>
            <a:ext cx="19145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91757" y="3631644"/>
            <a:ext cx="6400919" cy="2286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7" name="Text 15"/>
          <p:cNvSpPr/>
          <p:nvPr/>
        </p:nvSpPr>
        <p:spPr>
          <a:xfrm>
            <a:off x="7391757" y="3773091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Competitive Analysis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391757" y="4146590"/>
            <a:ext cx="6400919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Market saturation assessed through competitor density mapping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7724" y="4718923"/>
            <a:ext cx="19145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37724" y="5021461"/>
            <a:ext cx="6400919" cy="2286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21" name="Text 19"/>
          <p:cNvSpPr/>
          <p:nvPr/>
        </p:nvSpPr>
        <p:spPr>
          <a:xfrm>
            <a:off x="837724" y="5162907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Trend Analysis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837724" y="5536406"/>
            <a:ext cx="6400919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Income trends and customer preferences analyzed by location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91757" y="4718923"/>
            <a:ext cx="19145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06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91757" y="5021461"/>
            <a:ext cx="6400919" cy="2286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25" name="Text 23"/>
          <p:cNvSpPr/>
          <p:nvPr/>
        </p:nvSpPr>
        <p:spPr>
          <a:xfrm>
            <a:off x="7391757" y="5162907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Visualization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7391757" y="5536406"/>
            <a:ext cx="6400919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Charts created to represent trends and demographics visually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37724" y="6127909"/>
            <a:ext cx="4216241" cy="1307663"/>
          </a:xfrm>
          <a:prstGeom prst="roundRect">
            <a:avLst>
              <a:gd name="adj" fmla="val 2197"/>
            </a:avLst>
          </a:prstGeom>
          <a:solidFill>
            <a:srgbClr val="F3E7D4"/>
          </a:solidFill>
          <a:ln/>
        </p:spPr>
      </p:sp>
      <p:sp>
        <p:nvSpPr>
          <p:cNvPr id="28" name="Text 26"/>
          <p:cNvSpPr/>
          <p:nvPr/>
        </p:nvSpPr>
        <p:spPr>
          <a:xfrm>
            <a:off x="1029176" y="6319361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Main Dataset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1029176" y="6692860"/>
            <a:ext cx="3833336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location preferences, rental/sale choices, commissions, expenses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207079" y="6127909"/>
            <a:ext cx="4216241" cy="1307663"/>
          </a:xfrm>
          <a:prstGeom prst="roundRect">
            <a:avLst>
              <a:gd name="adj" fmla="val 2197"/>
            </a:avLst>
          </a:prstGeom>
          <a:solidFill>
            <a:srgbClr val="F3E7D4"/>
          </a:solidFill>
          <a:ln/>
        </p:spPr>
      </p:sp>
      <p:sp>
        <p:nvSpPr>
          <p:cNvPr id="31" name="Text 29"/>
          <p:cNvSpPr/>
          <p:nvPr/>
        </p:nvSpPr>
        <p:spPr>
          <a:xfrm>
            <a:off x="5398532" y="6319361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Competitor Analysis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5398532" y="6692860"/>
            <a:ext cx="3833336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Number of competitors by operational area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576435" y="6127909"/>
            <a:ext cx="4216241" cy="1307663"/>
          </a:xfrm>
          <a:prstGeom prst="roundRect">
            <a:avLst>
              <a:gd name="adj" fmla="val 2197"/>
            </a:avLst>
          </a:prstGeom>
          <a:solidFill>
            <a:srgbClr val="F3E7D4"/>
          </a:solidFill>
          <a:ln/>
        </p:spPr>
      </p:sp>
      <p:sp>
        <p:nvSpPr>
          <p:cNvPr id="34" name="Text 32"/>
          <p:cNvSpPr/>
          <p:nvPr/>
        </p:nvSpPr>
        <p:spPr>
          <a:xfrm>
            <a:off x="9767888" y="6319361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Deals by Location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9767888" y="6692860"/>
            <a:ext cx="3833336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Transaction volume tracked across three years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098" y="616863"/>
            <a:ext cx="6863120" cy="659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Findings: Top Locations</a:t>
            </a:r>
            <a:endParaRPr lang="en-US" sz="4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098" y="1828443"/>
            <a:ext cx="8297585" cy="463117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476065" y="1591985"/>
            <a:ext cx="4538186" cy="5104090"/>
          </a:xfrm>
          <a:prstGeom prst="roundRect">
            <a:avLst>
              <a:gd name="adj" fmla="val 742"/>
            </a:avLst>
          </a:prstGeom>
          <a:solidFill>
            <a:srgbClr val="38512F"/>
          </a:solidFill>
          <a:ln/>
        </p:spPr>
      </p:sp>
      <p:sp>
        <p:nvSpPr>
          <p:cNvPr id="5" name="Text 2"/>
          <p:cNvSpPr/>
          <p:nvPr/>
        </p:nvSpPr>
        <p:spPr>
          <a:xfrm>
            <a:off x="9700379" y="2731413"/>
            <a:ext cx="2639258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Indira Nagar Leads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9700379" y="3271480"/>
            <a:ext cx="4089559" cy="1042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Highest deal frequency and commission earnings identified through comprehensive analysis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700379" y="4503301"/>
            <a:ext cx="4089559" cy="1043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Maximum transaction volume</a:t>
            </a:r>
            <a:endParaRPr lang="en-US" sz="175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Strongest revenue generation</a:t>
            </a:r>
            <a:endParaRPr lang="en-US" sz="175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Consistent performance patterns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85098" y="6785786"/>
            <a:ext cx="13060204" cy="695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Location analysis filtered based on deal count and commission earned to identify optimal markets for strategic focus and resource allocation.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13579"/>
            <a:ext cx="779204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Patterns by Location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345769"/>
            <a:ext cx="8216265" cy="388286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38544" y="6228636"/>
            <a:ext cx="239316" cy="239316"/>
          </a:xfrm>
          <a:prstGeom prst="roundRect">
            <a:avLst>
              <a:gd name="adj" fmla="val 7642"/>
            </a:avLst>
          </a:prstGeom>
          <a:solidFill>
            <a:srgbClr val="21301C"/>
          </a:solidFill>
          <a:ln/>
        </p:spPr>
      </p:sp>
      <p:sp>
        <p:nvSpPr>
          <p:cNvPr id="5" name="Text 2"/>
          <p:cNvSpPr/>
          <p:nvPr/>
        </p:nvSpPr>
        <p:spPr>
          <a:xfrm>
            <a:off x="2938820" y="6228636"/>
            <a:ext cx="1930837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Rental Commission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5022056" y="6228636"/>
            <a:ext cx="239316" cy="239316"/>
          </a:xfrm>
          <a:prstGeom prst="roundRect">
            <a:avLst>
              <a:gd name="adj" fmla="val 7642"/>
            </a:avLst>
          </a:prstGeom>
          <a:solidFill>
            <a:srgbClr val="45643A"/>
          </a:solidFill>
          <a:ln/>
        </p:spPr>
      </p:sp>
      <p:sp>
        <p:nvSpPr>
          <p:cNvPr id="7" name="Text 4"/>
          <p:cNvSpPr/>
          <p:nvPr/>
        </p:nvSpPr>
        <p:spPr>
          <a:xfrm>
            <a:off x="5322332" y="6228636"/>
            <a:ext cx="1818323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Sales Commission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645491" y="2806660"/>
            <a:ext cx="374177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Specialization Opportunities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45491" y="3397925"/>
            <a:ext cx="41546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Azadpur: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Pure rental market generating consistent rental commissions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9645491" y="4379357"/>
            <a:ext cx="41546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Kewal Park &amp; Mukundpur: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Sales-dominated markets with highest transaction values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9645491" y="5743813"/>
            <a:ext cx="41546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Strategic Insight: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Tailor services to match location-specific demand patterns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13579"/>
            <a:ext cx="836985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Property Type Demand Analysis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345769"/>
            <a:ext cx="8216265" cy="433113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99266" y="6539896"/>
            <a:ext cx="239316" cy="239316"/>
          </a:xfrm>
          <a:prstGeom prst="roundRect">
            <a:avLst>
              <a:gd name="adj" fmla="val 7642"/>
            </a:avLst>
          </a:prstGeom>
          <a:solidFill>
            <a:srgbClr val="21301C"/>
          </a:solidFill>
          <a:ln/>
        </p:spPr>
      </p:sp>
      <p:sp>
        <p:nvSpPr>
          <p:cNvPr id="5" name="Text 2"/>
          <p:cNvSpPr/>
          <p:nvPr/>
        </p:nvSpPr>
        <p:spPr>
          <a:xfrm>
            <a:off x="2999542" y="6539896"/>
            <a:ext cx="475298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Flats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4485442" y="6539896"/>
            <a:ext cx="239316" cy="239316"/>
          </a:xfrm>
          <a:prstGeom prst="roundRect">
            <a:avLst>
              <a:gd name="adj" fmla="val 7642"/>
            </a:avLst>
          </a:prstGeom>
          <a:solidFill>
            <a:srgbClr val="527645"/>
          </a:solidFill>
          <a:ln/>
        </p:spPr>
      </p:sp>
      <p:sp>
        <p:nvSpPr>
          <p:cNvPr id="7" name="Text 4"/>
          <p:cNvSpPr/>
          <p:nvPr/>
        </p:nvSpPr>
        <p:spPr>
          <a:xfrm>
            <a:off x="4785717" y="6539896"/>
            <a:ext cx="620316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Shops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6416754" y="6539896"/>
            <a:ext cx="239316" cy="239316"/>
          </a:xfrm>
          <a:prstGeom prst="roundRect">
            <a:avLst>
              <a:gd name="adj" fmla="val 7642"/>
            </a:avLst>
          </a:prstGeom>
          <a:solidFill>
            <a:srgbClr val="87B179"/>
          </a:solidFill>
          <a:ln/>
        </p:spPr>
      </p:sp>
      <p:sp>
        <p:nvSpPr>
          <p:cNvPr id="9" name="Text 6"/>
          <p:cNvSpPr/>
          <p:nvPr/>
        </p:nvSpPr>
        <p:spPr>
          <a:xfrm>
            <a:off x="6717030" y="6539896"/>
            <a:ext cx="500896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Plots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9645491" y="270498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Market Preferences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645491" y="3296245"/>
            <a:ext cx="41546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highlight>
                  <a:srgbClr val="38512F"/>
                </a:highlight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Plot demand significantly lower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than flats and commercial properties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645491" y="4277678"/>
            <a:ext cx="4154686" cy="229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Aadarsh Nagar &amp; Indira Nagar: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High residential flat demand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Azadpur &amp; Model Town: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Strong commercial property interest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Recommendation: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Focus inventory on flats and commercial spaces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13579"/>
            <a:ext cx="1001482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Demographics: Age Insights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345769"/>
            <a:ext cx="8216265" cy="46010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5491" y="2806660"/>
            <a:ext cx="403348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 Demographic Identified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45491" y="3397925"/>
            <a:ext cx="41546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Prime Market: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28-48 years, peak under 33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645491" y="4379357"/>
            <a:ext cx="41546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Marketing Strategy: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Focus on young professionals and growing families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645491" y="5360789"/>
            <a:ext cx="41546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Opportunity: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Investment properties for older segments remain viable secondary market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98778"/>
            <a:ext cx="590383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Strategic Recommendations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1568410"/>
            <a:ext cx="1436132" cy="14361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3195995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Location Focus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37724" y="3569494"/>
            <a:ext cx="3095149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Boost marketing in Indira Nagar and Majlis Park with client incentives and personalized outreach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325" y="1568410"/>
            <a:ext cx="1436132" cy="14361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4325" y="3195995"/>
            <a:ext cx="2700933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Premium Market Strategy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4124325" y="3569494"/>
            <a:ext cx="3095149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Target high-value properties in Adarsh Nagar and Model Town with luxury showcases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926" y="1568410"/>
            <a:ext cx="1436132" cy="14361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10926" y="3195995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Rental Growth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7410926" y="3569494"/>
            <a:ext cx="3095149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Establish rental expertise in Model Town and Azadpur through targeted marketing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7527" y="1568410"/>
            <a:ext cx="1436132" cy="14361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697527" y="3195995"/>
            <a:ext cx="2378273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Balanced Property Mix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10697527" y="3569494"/>
            <a:ext cx="3095149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on rentals in high-demand areas, prioritize premium properties in top sales regions</a:t>
            </a:r>
            <a:endParaRPr lang="en-US" sz="15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24" y="4702731"/>
            <a:ext cx="1436132" cy="14361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37724" y="6330315"/>
            <a:ext cx="2340293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Strategic Partnerships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837724" y="6703814"/>
            <a:ext cx="3095149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Collaborate with developers for exclusive property rights and financing options</a:t>
            </a:r>
            <a:endParaRPr lang="en-US" sz="15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4325" y="4702731"/>
            <a:ext cx="1436132" cy="14361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124325" y="6330315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Digital Marketing</a:t>
            </a:r>
            <a:endParaRPr lang="en-US" sz="1750" dirty="0"/>
          </a:p>
        </p:txBody>
      </p:sp>
      <p:sp>
        <p:nvSpPr>
          <p:cNvPr id="20" name="Text 12"/>
          <p:cNvSpPr/>
          <p:nvPr/>
        </p:nvSpPr>
        <p:spPr>
          <a:xfrm>
            <a:off x="4124325" y="6703814"/>
            <a:ext cx="3095149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Leverage Google Ads, SEO, referral programs, virtual tours, and influencer marketing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88896"/>
            <a:ext cx="6272451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Expansion &amp; Competitive Strategy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837724" y="1416129"/>
            <a:ext cx="6418778" cy="1727359"/>
          </a:xfrm>
          <a:prstGeom prst="roundRect">
            <a:avLst>
              <a:gd name="adj" fmla="val 1455"/>
            </a:avLst>
          </a:prstGeom>
          <a:solidFill>
            <a:srgbClr val="F3E7D4"/>
          </a:solidFill>
          <a:ln/>
        </p:spPr>
      </p:sp>
      <p:sp>
        <p:nvSpPr>
          <p:cNvPr id="4" name="Shape 2"/>
          <p:cNvSpPr/>
          <p:nvPr/>
        </p:nvSpPr>
        <p:spPr>
          <a:xfrm>
            <a:off x="1005245" y="1583650"/>
            <a:ext cx="502682" cy="502682"/>
          </a:xfrm>
          <a:prstGeom prst="roundRect">
            <a:avLst>
              <a:gd name="adj" fmla="val 18188608"/>
            </a:avLst>
          </a:prstGeom>
          <a:solidFill>
            <a:srgbClr val="38512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476" y="1721882"/>
            <a:ext cx="226100" cy="226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245" y="2203609"/>
            <a:ext cx="2060734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Geographic Expansion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05245" y="2520434"/>
            <a:ext cx="6083737" cy="455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Target emerging high-growth areas like Dwarka, Noida Extension, and South Delhi for early market advantage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73779" y="1416129"/>
            <a:ext cx="6418898" cy="1727359"/>
          </a:xfrm>
          <a:prstGeom prst="roundRect">
            <a:avLst>
              <a:gd name="adj" fmla="val 1455"/>
            </a:avLst>
          </a:prstGeom>
          <a:solidFill>
            <a:srgbClr val="F3E7D4"/>
          </a:solidFill>
          <a:ln/>
        </p:spPr>
      </p:sp>
      <p:sp>
        <p:nvSpPr>
          <p:cNvPr id="9" name="Shape 6"/>
          <p:cNvSpPr/>
          <p:nvPr/>
        </p:nvSpPr>
        <p:spPr>
          <a:xfrm>
            <a:off x="7541300" y="1583650"/>
            <a:ext cx="502682" cy="502682"/>
          </a:xfrm>
          <a:prstGeom prst="roundRect">
            <a:avLst>
              <a:gd name="adj" fmla="val 18188608"/>
            </a:avLst>
          </a:prstGeom>
          <a:solidFill>
            <a:srgbClr val="38512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9531" y="1721882"/>
            <a:ext cx="226100" cy="2261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41300" y="2203609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Premium Projects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541300" y="2520434"/>
            <a:ext cx="6083856" cy="455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Partner with builders on luxury developments to attract affluent clients and boost commissions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37724" y="3260765"/>
            <a:ext cx="6418778" cy="1727359"/>
          </a:xfrm>
          <a:prstGeom prst="roundRect">
            <a:avLst>
              <a:gd name="adj" fmla="val 1455"/>
            </a:avLst>
          </a:prstGeom>
          <a:solidFill>
            <a:srgbClr val="F3E7D4"/>
          </a:solidFill>
          <a:ln/>
        </p:spPr>
      </p:sp>
      <p:sp>
        <p:nvSpPr>
          <p:cNvPr id="14" name="Shape 10"/>
          <p:cNvSpPr/>
          <p:nvPr/>
        </p:nvSpPr>
        <p:spPr>
          <a:xfrm>
            <a:off x="1005245" y="3428286"/>
            <a:ext cx="502682" cy="502682"/>
          </a:xfrm>
          <a:prstGeom prst="roundRect">
            <a:avLst>
              <a:gd name="adj" fmla="val 18188608"/>
            </a:avLst>
          </a:prstGeom>
          <a:solidFill>
            <a:srgbClr val="38512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476" y="3566517"/>
            <a:ext cx="226100" cy="2261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245" y="4048244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Agent Collaboration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005245" y="4365069"/>
            <a:ext cx="6083737" cy="455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Share listings and clients with other agents to reduce competition and expand market reach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373779" y="3260765"/>
            <a:ext cx="6418898" cy="1727359"/>
          </a:xfrm>
          <a:prstGeom prst="roundRect">
            <a:avLst>
              <a:gd name="adj" fmla="val 1455"/>
            </a:avLst>
          </a:prstGeom>
          <a:solidFill>
            <a:srgbClr val="F3E7D4"/>
          </a:solidFill>
          <a:ln/>
        </p:spPr>
      </p:sp>
      <p:sp>
        <p:nvSpPr>
          <p:cNvPr id="19" name="Shape 14"/>
          <p:cNvSpPr/>
          <p:nvPr/>
        </p:nvSpPr>
        <p:spPr>
          <a:xfrm>
            <a:off x="7541300" y="3428286"/>
            <a:ext cx="502682" cy="502682"/>
          </a:xfrm>
          <a:prstGeom prst="roundRect">
            <a:avLst>
              <a:gd name="adj" fmla="val 18188608"/>
            </a:avLst>
          </a:prstGeom>
          <a:solidFill>
            <a:srgbClr val="38512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9531" y="3566517"/>
            <a:ext cx="226100" cy="2261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41300" y="4048244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Client Retention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7541300" y="4365069"/>
            <a:ext cx="6083856" cy="455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 loyalty programs and value-added services to enhance retention and repeat business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837724" y="5105400"/>
            <a:ext cx="6418778" cy="1727359"/>
          </a:xfrm>
          <a:prstGeom prst="roundRect">
            <a:avLst>
              <a:gd name="adj" fmla="val 1455"/>
            </a:avLst>
          </a:prstGeom>
          <a:solidFill>
            <a:srgbClr val="F3E7D4"/>
          </a:solidFill>
          <a:ln/>
        </p:spPr>
      </p:sp>
      <p:sp>
        <p:nvSpPr>
          <p:cNvPr id="24" name="Shape 18"/>
          <p:cNvSpPr/>
          <p:nvPr/>
        </p:nvSpPr>
        <p:spPr>
          <a:xfrm>
            <a:off x="1005245" y="5272921"/>
            <a:ext cx="502682" cy="502682"/>
          </a:xfrm>
          <a:prstGeom prst="roundRect">
            <a:avLst>
              <a:gd name="adj" fmla="val 18188608"/>
            </a:avLst>
          </a:prstGeom>
          <a:solidFill>
            <a:srgbClr val="38512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3476" y="5411152"/>
            <a:ext cx="226100" cy="2261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05245" y="5892879"/>
            <a:ext cx="2442329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Unique Selling Proposition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1005245" y="6209705"/>
            <a:ext cx="6083737" cy="455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exclusive listings and offer personalized, client-centric services for differentiation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7373779" y="5105400"/>
            <a:ext cx="6418898" cy="1727359"/>
          </a:xfrm>
          <a:prstGeom prst="roundRect">
            <a:avLst>
              <a:gd name="adj" fmla="val 1455"/>
            </a:avLst>
          </a:prstGeom>
          <a:solidFill>
            <a:srgbClr val="F3E7D4"/>
          </a:solidFill>
          <a:ln/>
        </p:spPr>
      </p:sp>
      <p:sp>
        <p:nvSpPr>
          <p:cNvPr id="29" name="Shape 22"/>
          <p:cNvSpPr/>
          <p:nvPr/>
        </p:nvSpPr>
        <p:spPr>
          <a:xfrm>
            <a:off x="7541300" y="5272921"/>
            <a:ext cx="502682" cy="502682"/>
          </a:xfrm>
          <a:prstGeom prst="roundRect">
            <a:avLst>
              <a:gd name="adj" fmla="val 18188608"/>
            </a:avLst>
          </a:prstGeom>
          <a:solidFill>
            <a:srgbClr val="38512F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79531" y="5411152"/>
            <a:ext cx="226100" cy="2261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41300" y="5892879"/>
            <a:ext cx="2171581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Pre-Construction Deals</a:t>
            </a:r>
            <a:endParaRPr lang="en-US" sz="1550" dirty="0"/>
          </a:p>
        </p:txBody>
      </p:sp>
      <p:sp>
        <p:nvSpPr>
          <p:cNvPr id="32" name="Text 24"/>
          <p:cNvSpPr/>
          <p:nvPr/>
        </p:nvSpPr>
        <p:spPr>
          <a:xfrm>
            <a:off x="7541300" y="6209705"/>
            <a:ext cx="6083856" cy="455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Offer early-stage property opportunities to attract investors and generate upfront revenue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837724" y="6964680"/>
            <a:ext cx="12954952" cy="576024"/>
          </a:xfrm>
          <a:prstGeom prst="roundRect">
            <a:avLst>
              <a:gd name="adj" fmla="val 4364"/>
            </a:avLst>
          </a:prstGeom>
          <a:solidFill>
            <a:srgbClr val="D4E3CF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245" y="7187327"/>
            <a:ext cx="209431" cy="167521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382197" y="7123748"/>
            <a:ext cx="12242959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Takeaway:</a:t>
            </a:r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Strategic expansion combined with competitive differentiation creates sustainable growth pathways for Narang Associates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2026-02-12T10:58:19Z</dcterms:created>
  <dcterms:modified xsi:type="dcterms:W3CDTF">2026-02-12T10:58:19Z</dcterms:modified>
</cp:coreProperties>
</file>